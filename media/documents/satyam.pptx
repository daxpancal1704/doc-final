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</p:sldMasterIdLst>
  <p:notesMasterIdLst>
    <p:notesMasterId r:id="rId10"/>
  </p:notesMasterIdLst>
  <p:handoutMasterIdLst>
    <p:handoutMasterId r:id="rId34"/>
  </p:handoutMasterIdLst>
  <p:sldIdLst>
    <p:sldId id="256" r:id="rId9"/>
    <p:sldId id="264" r:id="rId11"/>
    <p:sldId id="265" r:id="rId12"/>
    <p:sldId id="266" r:id="rId13"/>
    <p:sldId id="278" r:id="rId14"/>
    <p:sldId id="279" r:id="rId15"/>
    <p:sldId id="269" r:id="rId16"/>
    <p:sldId id="268" r:id="rId17"/>
    <p:sldId id="267" r:id="rId18"/>
    <p:sldId id="270" r:id="rId19"/>
    <p:sldId id="273" r:id="rId20"/>
    <p:sldId id="272" r:id="rId21"/>
    <p:sldId id="271" r:id="rId22"/>
    <p:sldId id="274" r:id="rId23"/>
    <p:sldId id="282" r:id="rId24"/>
    <p:sldId id="276" r:id="rId25"/>
    <p:sldId id="275" r:id="rId26"/>
    <p:sldId id="280" r:id="rId27"/>
    <p:sldId id="281" r:id="rId28"/>
    <p:sldId id="277" r:id="rId29"/>
    <p:sldId id="285" r:id="rId30"/>
    <p:sldId id="284" r:id="rId31"/>
    <p:sldId id="257" r:id="rId32"/>
    <p:sldId id="283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69D68C2-FDD7-4F2F-8B1C-64A40B107AB0}">
          <p14:sldIdLst/>
        </p14:section>
        <p14:section name="Untitled Section" id="{6BB85563-3620-4491-AF97-5D95A25B352C}">
          <p14:sldIdLst/>
        </p14:section>
        <p14:section name="Untitled Section" id="{54BFCD1E-8B6F-4199-93FF-B26832C28FC5}">
          <p14:sldIdLst>
            <p14:sldId id="256"/>
            <p14:sldId id="264"/>
            <p14:sldId id="265"/>
            <p14:sldId id="266"/>
            <p14:sldId id="278"/>
            <p14:sldId id="279"/>
            <p14:sldId id="269"/>
            <p14:sldId id="268"/>
            <p14:sldId id="267"/>
            <p14:sldId id="270"/>
            <p14:sldId id="273"/>
            <p14:sldId id="272"/>
            <p14:sldId id="271"/>
            <p14:sldId id="274"/>
            <p14:sldId id="282"/>
            <p14:sldId id="276"/>
            <p14:sldId id="275"/>
            <p14:sldId id="280"/>
            <p14:sldId id="281"/>
            <p14:sldId id="277"/>
            <p14:sldId id="285"/>
            <p14:sldId id="284"/>
            <p14:sldId id="25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41" autoAdjust="0"/>
    <p:restoredTop sz="67742" autoAdjust="0"/>
  </p:normalViewPr>
  <p:slideViewPr>
    <p:cSldViewPr showGuides="1">
      <p:cViewPr>
        <p:scale>
          <a:sx n="75" d="100"/>
          <a:sy n="75" d="100"/>
        </p:scale>
        <p:origin x="-1344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4D3B1-F34C-4DB6-B701-A4B68601DF6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245780694053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BB5E3-0738-4489-809D-3030FFD460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05BFA-D424-4D2F-9332-780CEB01821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245780694053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9C16E-D0A1-4F35-87A2-1C00BCD3C51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245780694053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245780694053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245780694053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245780694053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5D1D-0378-41BD-9A06-57A7731EB5B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  <a:endParaRPr lang="en-US" dirty="0"/>
          </a:p>
        </p:txBody>
      </p:sp>
      <p:pic>
        <p:nvPicPr>
          <p:cNvPr id="7" name="image1.jpg"/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620000" cy="4800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8C9A-BCAC-4CA2-ACC3-B8AE073B190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1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  <p:sp>
        <p:nvSpPr>
          <p:cNvPr id="8" name="Footer Placeholder 4"/>
          <p:cNvSpPr txBox="1"/>
          <p:nvPr userDrawn="1"/>
        </p:nvSpPr>
        <p:spPr>
          <a:xfrm>
            <a:off x="147587" y="6470456"/>
            <a:ext cx="830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kern="120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[Enrollment Number ]                                                                                                                                               M</a:t>
            </a:r>
            <a:r>
              <a:rPr lang="en-US" dirty="0"/>
              <a:t>ajor Project(MC04094011)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E43DC-74BD-4FDE-A573-176028CBC15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pic>
        <p:nvPicPr>
          <p:cNvPr id="7" name="image1.jpg"/>
          <p:cNvPicPr/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28BE5-2F5A-4666-B068-D8B6190E186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  <p:sp>
        <p:nvSpPr>
          <p:cNvPr id="10" name="Footer Placeholder 4"/>
          <p:cNvSpPr txBox="1"/>
          <p:nvPr userDrawn="1"/>
        </p:nvSpPr>
        <p:spPr>
          <a:xfrm>
            <a:off x="147587" y="6435726"/>
            <a:ext cx="830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MCA_Sem – 3 (MC03094171)                                                                                                                                                        Research Work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90800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17AA-293D-4F1E-AD24-D7994AFC009E}" type="datetime1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13" name="Footer Placeholder 4"/>
          <p:cNvSpPr txBox="1"/>
          <p:nvPr userDrawn="1"/>
        </p:nvSpPr>
        <p:spPr>
          <a:xfrm>
            <a:off x="76200" y="6489416"/>
            <a:ext cx="830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MCA_Sem – 3 (MC03094171)                                                                                                                                                        Research Work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39672-9711-4271-B217-50810E83BD8C}" type="datetime1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12" name="Footer Placeholder 4"/>
          <p:cNvSpPr txBox="1"/>
          <p:nvPr userDrawn="1"/>
        </p:nvSpPr>
        <p:spPr>
          <a:xfrm>
            <a:off x="25400" y="6467475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MCA_Sem – 3 (MC03094171)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9EDCA-DAA6-4087-A878-C5BF151F86C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25400" y="6467475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MCA_Sem – 3 (MC03094171)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DB595-E57D-4732-824F-D09918B5D37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AF6D-BC3C-4140-88D6-4F659852DCC4}" type="datetime1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4"/>
          <p:cNvSpPr txBox="1"/>
          <p:nvPr userDrawn="1"/>
        </p:nvSpPr>
        <p:spPr>
          <a:xfrm>
            <a:off x="25400" y="6467475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MCA_Sem – 3 (MC03094171)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93633-D585-4213-B755-F1DDEF7C622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477B3-AC5F-454A-A9AF-913A8CB5F8D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1833-0C55-4379-8FF7-BF747DEFF2D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45EE7-8F77-45B5-84A4-331921A00E85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5ED2-0605-4B1E-9516-92E0709EE751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11EA6-F5BB-46AF-8B91-9937B0F41212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8926-18F1-45B5-BD01-74505FA6376E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B8392-36C9-460D-A2C3-53BB2BD5D5F0}" type="datetime1">
              <a:rPr lang="en-US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29092-F6DB-408D-BD3A-750FA52531E0}" type="datetime1">
              <a:rPr lang="en-US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71B85-BF90-441D-B447-A6F42F2C4E5E}" type="datetime1">
              <a:rPr lang="en-US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DF9D-EDDA-4B74-83C3-452A834D7A55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8D35-2608-4B1C-A194-CDD080D4CEA7}" type="datetime1">
              <a:rPr lang="en-US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D230B-9318-4318-BF40-BFF4BE94884D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BECED-1D36-49A6-9DC1-B5DABF364365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DA26-3F57-42A9-A97D-C6C954F147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4B828-AA92-4789-95F5-0EAA51F1079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0899-9677-444E-81DA-5B2837330A4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C50D-75D5-4DC5-A43D-89F213581EB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1C7A0-ADBE-4815-90EA-158C5DE4A07B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1C3D8-7339-4B11-A4A0-566CCBC1376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83C5-0FEC-4786-95B1-0A1AFEE87278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A3F4F-4D9A-4B4E-9DB9-E8E123BC6615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5735F-3DB9-4C88-8D53-3737D0CB949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579-5D1B-4B10-829F-DB300A2EBDD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7E29-42B3-4340-97B6-F043AED3A76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ACAB-484D-4D3E-81ED-ECB807AEBE2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4384-0F2F-4E9E-B177-40A17B881F2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838200" y="601980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21173-FF6B-4A93-A43C-80644891730B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299BD-CCA6-4F0D-8194-5027A68FB04B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5413-FB62-4633-834B-84BD5B623F69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EA807-BE3B-4474-A7F4-D9F86D49DCA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6DD68-6F39-4C06-B7C2-FE539097B2C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33044-E085-4504-81BC-ED22381A6A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D3BC-8607-4FA5-9594-3E643E9F265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B762A-7628-469B-9864-B783CEFFC09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0BDB3-C8BB-4388-9ED7-8D7983517BD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FE08-B73B-4415-8AAC-EA9459723F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8E81-A021-43D9-BD49-DFF001472A3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D0EA1-71F8-422B-B80C-0C089143833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4BAF-5F49-4EC8-97A2-C5EFFDB7DF92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A07C-C21B-492F-A544-A10B13A11B63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4E80-4F7A-4E65-946E-60A13DACC56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C645-B322-48A4-BF09-2CCDF60A8E7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A4716-E499-4763-A6E4-BC4D1E5943D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31024-E094-4B3D-949C-D2145280DC7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" y="6400800"/>
            <a:ext cx="25146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5308B-2C75-4C5F-881A-00B888B8150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C9137-D064-492B-A8CB-5BFA5FBEC1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EDFF2-6E5B-4480-BACF-97CCAB4E492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08CC4-6BB8-44C2-91DB-DE481F52EB58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490D-2703-4120-9858-7037E4AC175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22731-6E14-499C-8319-0E387E8D2C3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E98D-4B3F-4070-9D2E-91FE2EEB0CE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63A43-830D-4A3A-9162-4F8699BFF0F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B67B-E275-46DB-ABDE-6F5D2DC31D6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E52F0-EBDE-496E-AE41-A932F6F1B03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87A4-F0FF-4684-BDA5-FFF3F84828C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E387A-DCE7-47DF-BCC1-82B93D44155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B2792-8B8F-4445-8667-07874116ABE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D140E-2C7C-4700-B027-8A8581051FF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C3B4D-7076-458E-89C5-757F3C9777A5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4F02-E655-41CE-8A51-FB993A21826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93E25-EFAD-4599-B5B0-FB377F42E2B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38C6-0E7B-4A88-9872-DA7F49DF154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1D787-307A-4AEF-A671-CA7E9FDA6C2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7D6A7-F4E6-4958-B483-04B539E2AC0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92D48-70C2-460E-9402-1AE3867F3C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BAA1833-0C55-4379-8FF7-BF747DEFF2D2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D978A8B1-31C7-49EB-89F9-203CC002B148}" type="datetime1">
              <a:rPr lang="en-US" smtClean="0"/>
            </a:fld>
            <a:endParaRPr lang="en-US"/>
          </a:p>
        </p:txBody>
      </p:sp>
      <p:pic>
        <p:nvPicPr>
          <p:cNvPr id="9" name="image1.jpg"/>
          <p:cNvPicPr/>
          <p:nvPr userDrawn="1"/>
        </p:nvPicPr>
        <p:blipFill>
          <a:blip r:embed="rId12" cstate="print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21B26-DBF1-48CF-9770-E43778BE559C}" type="datetime1">
              <a:rPr lang="en-US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6C8CF-255A-4533-A38C-E2776B7088DB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62481-9F95-4872-809A-BF15E0F2461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AF217-9E5D-406D-A32E-4DAF52F048F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384D1-B1F9-492B-84B5-57977CAAA6B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5E57F-6B94-45B8-B6AB-A4B12B6C54B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A5261-8DE3-446F-BBCA-69E54630E1F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0111B-63F8-49FB-B907-FF7A3A92666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A21C-E09B-42B8-ACBE-93B9E36A68E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B4D9D-07E0-4A96-8D2A-3930BE786C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0D12-7A9B-4059-85DB-D8F54ABB6A2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2410A-C9B2-4F68-87E6-DC62EC8CE60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2970212" y="5813075"/>
            <a:ext cx="6477000" cy="1143000"/>
          </a:xfrm>
        </p:spPr>
        <p:txBody>
          <a:bodyPr>
            <a:noAutofit/>
          </a:bodyPr>
          <a:lstStyle/>
          <a:p>
            <a:pPr algn="ctr"/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501" y="5298018"/>
            <a:ext cx="3273425" cy="1066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Internal   </a:t>
            </a:r>
            <a:r>
              <a:rPr lang="en-US" sz="1800" spc="-1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Guide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pc="-1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Nairutvi</a:t>
            </a:r>
            <a:r>
              <a:rPr lang="en-US" spc="-1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0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Mam</a:t>
            </a:r>
            <a:endParaRPr lang="en-US" spc="-100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8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10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12" descr="Gujarat Technological University Admission, Courses Offered ...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0" y="5959275"/>
            <a:ext cx="300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endParaRPr lang="en-IN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)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1.jpg"/>
          <p:cNvPicPr/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76357" y="223695"/>
            <a:ext cx="1347643" cy="6907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644" y="52458"/>
            <a:ext cx="1166743" cy="1166743"/>
          </a:xfrm>
          <a:prstGeom prst="ellipse">
            <a:avLst/>
          </a:prstGeom>
        </p:spPr>
      </p:pic>
      <p:sp>
        <p:nvSpPr>
          <p:cNvPr id="20" name="Subtitle 2"/>
          <p:cNvSpPr txBox="1"/>
          <p:nvPr/>
        </p:nvSpPr>
        <p:spPr>
          <a:xfrm>
            <a:off x="5029200" y="5538806"/>
            <a:ext cx="3273425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55675" y="1371600"/>
            <a:ext cx="723265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578 - SAL Institute  of  Technology &amp; Engineering Research </a:t>
            </a:r>
            <a:b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 Computer Applications</a:t>
            </a:r>
            <a:b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94-Master  of  Computer Applications</a:t>
            </a:r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Major Project (MC04094011 )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3042421"/>
            <a:ext cx="7391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</a:t>
            </a:r>
            <a:r>
              <a:rPr lang="en-US" sz="2000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endParaRPr lang="en-US" sz="2000" b="1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“AI-Based Threat Detection and Automatic Response System”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b="1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SATYAM YADAV </a:t>
            </a:r>
            <a:endParaRPr lang="en-US" sz="2000" b="1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245780694053</a:t>
            </a:r>
            <a:endParaRPr lang="en-US" sz="2000" b="1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ubtitle 2"/>
          <p:cNvSpPr txBox="1"/>
          <p:nvPr/>
        </p:nvSpPr>
        <p:spPr>
          <a:xfrm>
            <a:off x="4648200" y="5334000"/>
            <a:ext cx="3578225" cy="1066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External  Guide:  Dr. </a:t>
            </a:r>
            <a:r>
              <a:rPr lang="en-US" sz="1800" spc="-1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Khyati</a:t>
            </a:r>
            <a:r>
              <a:rPr lang="en-US" sz="1800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800" spc="-1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Rami</a:t>
            </a:r>
            <a:r>
              <a:rPr lang="en-US" sz="1800" spc="-100" dirty="0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sz="1800" spc="-1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Mam</a:t>
            </a:r>
            <a:endParaRPr lang="en-US" sz="1800" spc="-1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52600" y="304800"/>
            <a:ext cx="5334000" cy="808038"/>
          </a:xfrm>
        </p:spPr>
        <p:txBody>
          <a:bodyPr/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620000" cy="4648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Profile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&amp; Scheduling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sz="28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2800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800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Screenshots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36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Profile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45720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Threat Detection and Automatic Response System.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Category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457200" algn="just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Artificial Intelligence.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Duration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45720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2026 – April 2026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Satyam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001000" cy="5181600"/>
          </a:xfrm>
        </p:spPr>
        <p:txBody>
          <a:bodyPr/>
          <a:lstStyle/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Python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Framework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AI/Machine Learning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-learn ,Pandas ,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ORM : 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2.0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endParaRPr lang="en-US" b="1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 Technologies:</a:t>
            </a:r>
            <a:endParaRPr lang="en-US" sz="2400" b="1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Linux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Sources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Auth logs and System logs, Application/Web logs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VS Code</a:t>
            </a:r>
            <a:endParaRPr lang="en-US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this project is to develop an intelligent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system capable of: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 logs in real time.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suspicious patterns using machine learning.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security threats automatically.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Triggering automated responses against threats.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Helping organizations detect attacks early.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by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 teams, enterprises, and cloud environments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620000" cy="1143000"/>
          </a:xfrm>
        </p:spPr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620000" cy="4800600"/>
          </a:xfrm>
        </p:spPr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cyber threats using AI techniques.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system logs automatically.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abnormal or malicious activities.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response mechanisms for detected threats.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monitoring workload in security operations.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/>
              <a:t>Introduction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7620000" cy="48006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 attacks are increasing rapidly.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/>
              <a:t> Modern computer systems generate </a:t>
            </a:r>
            <a:r>
              <a:rPr lang="en-US" b="1" dirty="0" smtClean="0"/>
              <a:t>large volumes of logs</a:t>
            </a:r>
            <a:r>
              <a:rPr lang="en-US" dirty="0" smtClean="0"/>
              <a:t> from authentication systems, applications, and network activities.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/>
              <a:t>Traditional monitoring systems rely heavily on </a:t>
            </a:r>
            <a:r>
              <a:rPr lang="en-US" b="1" dirty="0" smtClean="0"/>
              <a:t>manual analysis and rule-based detection</a:t>
            </a:r>
            <a:r>
              <a:rPr lang="en-US" dirty="0" smtClean="0"/>
              <a:t>, which is slow and inefficient.</a:t>
            </a:r>
            <a:endParaRPr lang="en-US" dirty="0" smtClean="0"/>
          </a:p>
          <a:p>
            <a:pPr algn="just"/>
            <a:r>
              <a:rPr lang="en-US" dirty="0" smtClean="0"/>
              <a:t>Security teams must continuously monitor these logs to detect </a:t>
            </a:r>
            <a:r>
              <a:rPr lang="en-US" b="1" dirty="0" smtClean="0"/>
              <a:t>cyber threats such as brute force attacks, unauthorized access, and suspicious activities</a:t>
            </a:r>
            <a:r>
              <a:rPr lang="en-US" dirty="0" smtClean="0"/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620000" cy="1143000"/>
          </a:xfrm>
        </p:spPr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monitoring systems face several challenges: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 of logs generated daily.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requires high effort.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of cyber threats.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intelligent automated systems.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incident response.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7620000" cy="48006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security systems: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log monitoring.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Logs are manually analyzed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is rule-based.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analysts monitor alerts.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actions are performed manually.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consuming and inefficient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 scale systems.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620000" cy="1143000"/>
          </a:xfrm>
        </p:spPr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7620000" cy="4800600"/>
          </a:xfrm>
        </p:spPr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suffer from: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threat detection.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Inability to handle large log volumes.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Heavy dependency on humans.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automation.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reduce the effectiveness of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620000" cy="4800600"/>
          </a:xfrm>
        </p:spPr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introduces 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threat detection system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logs from multiple sources.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logs in real time.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anomalies using machine learning.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suspicious activities.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triggers response actions.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security monitoring and reduces manual effort.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proposed system include: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threat detection.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security response.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monitoring.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log analysis.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Collection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Parsing &amp; Processing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Response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Backend Module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&amp; Visualization Module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Phases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1219200"/>
            <a:ext cx="7543800" cy="5257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— Backend Foundation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setup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— Log Ingestion System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offset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 log source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3 — Detection Engine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 based detection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based event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counters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scoring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integration (in progress)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Phases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001000" cy="510540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4 — Response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 blocking using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iptables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 alert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notification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tracking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— Dashboard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attack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attacking IP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trend charts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— Production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Hardening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JWT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 based access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Audit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logging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integration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 Timeline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Online Gantt 20260307 (2)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rcRect b="6141"/>
          <a:stretch>
            <a:fillRect/>
          </a:stretch>
        </p:blipFill>
        <p:spPr>
          <a:xfrm>
            <a:off x="228600" y="1371600"/>
            <a:ext cx="8001000" cy="4114799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ChatGPT Image Mar 6, 2026, 03_29_27 PM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61257" y="1371600"/>
            <a:ext cx="7968343" cy="4648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7620000" cy="1143000"/>
          </a:xfrm>
        </p:spPr>
        <p:txBody>
          <a:bodyPr/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 Ingestion Pipeline Diagram: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log pipeline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514600" y="1524000"/>
            <a:ext cx="2992893" cy="48006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17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7620000" cy="1143000"/>
          </a:xfrm>
        </p:spPr>
        <p:txBody>
          <a:bodyPr/>
          <a:lstStyle/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Workflow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threat detection pipeline.png"/>
          <p:cNvPicPr>
            <a:picLocks noGrp="1"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819400" y="1371600"/>
            <a:ext cx="3175154" cy="48006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18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/>
              <a:t>Project Screenshots</a:t>
            </a:r>
            <a:endParaRPr lang="en-US" sz="3200" dirty="0"/>
          </a:p>
        </p:txBody>
      </p:sp>
      <p:pic>
        <p:nvPicPr>
          <p:cNvPr id="6" name="Content Placeholder 5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752600"/>
            <a:ext cx="7620000" cy="428371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19</a:t>
            </a:r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533400" y="1219200"/>
            <a:ext cx="457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dirty="0" smtClean="0">
                <a:sym typeface="+mn-ea"/>
              </a:rPr>
              <a:t>Log ingestion running</a:t>
            </a:r>
            <a:endParaRPr lang="en-US" dirty="0" smtClean="0"/>
          </a:p>
          <a:p>
            <a:endParaRPr lang="en-US" dirty="0" smtClean="0"/>
          </a:p>
          <a:p>
            <a:pPr marL="114300" indent="0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 dirty="0" smtClean="0">
                <a:sym typeface="+mn-ea"/>
              </a:rPr>
              <a:t>Threat detection results</a:t>
            </a:r>
            <a:endParaRPr lang="en-US" sz="2800"/>
          </a:p>
        </p:txBody>
      </p:sp>
      <p:pic>
        <p:nvPicPr>
          <p:cNvPr id="6" name="Content Placeholder 5" descr="C:/Users/daxp1/OneDrive/Desktop/Sem4/2.png2"/>
          <p:cNvPicPr>
            <a:picLocks noChangeAspect="1"/>
          </p:cNvPicPr>
          <p:nvPr>
            <p:ph idx="1"/>
          </p:nvPr>
        </p:nvPicPr>
        <p:blipFill>
          <a:blip r:embed="rId1"/>
          <a:srcRect t="8" b="8"/>
          <a:stretch>
            <a:fillRect/>
          </a:stretch>
        </p:blipFill>
        <p:spPr>
          <a:xfrm>
            <a:off x="381000" y="1600200"/>
            <a:ext cx="7620000" cy="428371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 events table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676400"/>
            <a:ext cx="7620000" cy="428371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685800"/>
            <a:ext cx="7620000" cy="1143000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Offset tracking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source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detection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counters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models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Planned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automation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dashboard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hardening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 !!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Adjacency">
  <a:themeElements>
    <a:clrScheme name="Custom 6">
      <a:dk1>
        <a:sysClr val="windowText" lastClr="000000"/>
      </a:dk1>
      <a:lt1>
        <a:sysClr val="window" lastClr="FFFFFF"/>
      </a:lt1>
      <a:dk2>
        <a:srgbClr val="0E2F4F"/>
      </a:dk2>
      <a:lt2>
        <a:srgbClr val="0E2F4F"/>
      </a:lt2>
      <a:accent1>
        <a:srgbClr val="224F76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0</TotalTime>
  <Words>5032</Words>
  <Application>WPS Presentation</Application>
  <PresentationFormat>On-screen Show (4:3)</PresentationFormat>
  <Paragraphs>275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Cambria</vt:lpstr>
      <vt:lpstr>Calibri Light</vt:lpstr>
      <vt:lpstr>Adjacency</vt:lpstr>
      <vt:lpstr>5_Custom Design</vt:lpstr>
      <vt:lpstr>4_Custom Design</vt:lpstr>
      <vt:lpstr>2_Custom Design</vt:lpstr>
      <vt:lpstr>3_Custom Design</vt:lpstr>
      <vt:lpstr>1_Custom Design</vt:lpstr>
      <vt:lpstr>Custom Design</vt:lpstr>
      <vt:lpstr>      </vt:lpstr>
      <vt:lpstr>Table of Contents</vt:lpstr>
      <vt:lpstr>Project Profile</vt:lpstr>
      <vt:lpstr>Tools &amp; Technologies</vt:lpstr>
      <vt:lpstr>Project Scope</vt:lpstr>
      <vt:lpstr>Objectives of the Project</vt:lpstr>
      <vt:lpstr>Introduction</vt:lpstr>
      <vt:lpstr>Problem Statement</vt:lpstr>
      <vt:lpstr>Existing System</vt:lpstr>
      <vt:lpstr>Limitation of Existing System</vt:lpstr>
      <vt:lpstr>Proposed System</vt:lpstr>
      <vt:lpstr>Advantages of Proposed System</vt:lpstr>
      <vt:lpstr>System Modules</vt:lpstr>
      <vt:lpstr>Project Planning Phases</vt:lpstr>
      <vt:lpstr>Project Planning Phases</vt:lpstr>
      <vt:lpstr>Gantt Chart Timeline</vt:lpstr>
      <vt:lpstr>System Architecture</vt:lpstr>
      <vt:lpstr>Log  Ingestion Pipeline Diagram:</vt:lpstr>
      <vt:lpstr>Threat detection Workflow</vt:lpstr>
      <vt:lpstr>Project Screenshots</vt:lpstr>
      <vt:lpstr>Threat detection results</vt:lpstr>
      <vt:lpstr>Database events table</vt:lpstr>
      <vt:lpstr>Implementation Status Details:</vt:lpstr>
      <vt:lpstr>Thank You 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Dax Panchal</cp:lastModifiedBy>
  <cp:revision>89</cp:revision>
  <dcterms:created xsi:type="dcterms:W3CDTF">2025-07-24T08:01:00Z</dcterms:created>
  <dcterms:modified xsi:type="dcterms:W3CDTF">2026-03-07T09:48:28Z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7B158CCF4C8045A2AA469D3A3CCE5E34_12</vt:lpwstr>
  </property>
  <property fmtid="{D5CDD505-2E9C-101B-9397-08002B2CF9AE}" pid="3" name="KSOProductBuildVer">
    <vt:lpwstr>1033-12.2.0.23196</vt:lpwstr>
  </property>
</Properties>
</file>